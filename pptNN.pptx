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2" r:id="rId5"/>
    <p:sldId id="267" r:id="rId6"/>
    <p:sldId id="268" r:id="rId7"/>
    <p:sldId id="269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276" r:id="rId21"/>
    <p:sldId id="284" r:id="rId22"/>
    <p:sldId id="278" r:id="rId23"/>
    <p:sldId id="280" r:id="rId24"/>
    <p:sldId id="281" r:id="rId25"/>
    <p:sldId id="282" r:id="rId26"/>
    <p:sldId id="283" r:id="rId27"/>
    <p:sldId id="261" r:id="rId28"/>
    <p:sldId id="285" r:id="rId29"/>
    <p:sldId id="286" r:id="rId30"/>
    <p:sldId id="287" r:id="rId31"/>
    <p:sldId id="288" r:id="rId32"/>
    <p:sldId id="289" r:id="rId33"/>
    <p:sldId id="260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7A33814-1A13-4A57-B8D0-9DE7CB782312}">
          <p14:sldIdLst>
            <p14:sldId id="256"/>
            <p14:sldId id="259"/>
          </p14:sldIdLst>
        </p14:section>
        <p14:section name="β衰变" id="{D78676C7-9338-459C-AD1D-7C409240906E}">
          <p14:sldIdLst>
            <p14:sldId id="258"/>
          </p14:sldIdLst>
        </p14:section>
        <p14:section name="机器学习和神经网络" id="{FF2C7371-59F4-480A-82A2-C3557CCC6675}">
          <p14:sldIdLst>
            <p14:sldId id="262"/>
            <p14:sldId id="267"/>
            <p14:sldId id="268"/>
            <p14:sldId id="269"/>
            <p14:sldId id="263"/>
            <p14:sldId id="264"/>
          </p14:sldIdLst>
        </p14:section>
        <p14:section name="非线性概率拟合" id="{121666C7-CAEE-40A0-945C-1982B52919E7}">
          <p14:sldIdLst>
            <p14:sldId id="265"/>
            <p14:sldId id="266"/>
            <p14:sldId id="270"/>
            <p14:sldId id="271"/>
          </p14:sldIdLst>
        </p14:section>
        <p14:section name="KNN" id="{D8195FC3-0003-4778-9BA5-5BD83E799E4C}">
          <p14:sldIdLst>
            <p14:sldId id="272"/>
            <p14:sldId id="273"/>
          </p14:sldIdLst>
        </p14:section>
        <p14:section name="神经网络" id="{F192D485-F1AE-4E24-B30E-08E5A453531C}">
          <p14:sldIdLst>
            <p14:sldId id="274"/>
            <p14:sldId id="275"/>
            <p14:sldId id="277"/>
            <p14:sldId id="279"/>
            <p14:sldId id="276"/>
            <p14:sldId id="284"/>
            <p14:sldId id="278"/>
            <p14:sldId id="280"/>
            <p14:sldId id="281"/>
            <p14:sldId id="282"/>
            <p14:sldId id="283"/>
          </p14:sldIdLst>
        </p14:section>
        <p14:section name="模型实现" id="{859BCDED-9437-4AE4-A549-E88E9D87379E}">
          <p14:sldIdLst>
            <p14:sldId id="261"/>
            <p14:sldId id="285"/>
            <p14:sldId id="286"/>
            <p14:sldId id="287"/>
            <p14:sldId id="288"/>
            <p14:sldId id="289"/>
          </p14:sldIdLst>
        </p14:section>
        <p14:section name="参考文献" id="{97A831C1-7ECF-42EC-81AD-9CF51CB29244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75E2D-C70B-BC41-07B4-F895D4893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053962-131E-8DDB-5842-09D4B8E94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70CBC-4B02-F5D6-A352-F62FC547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E2770-5BF1-0D3D-E118-30095997E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0ECCC-30AC-6C18-3536-D4233BA6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67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73BDE-C9F6-D09F-9DE6-C522852E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E5363-6AB3-646C-E98B-FE91FDDFD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15FC38-3B00-211B-83AD-5D448293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2BBF-2091-ACE9-5350-4DDFDF95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AB66E-1F5E-D72E-C2F0-ED6ABE08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53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F1DC3-05A7-2FDC-3496-BFC497A8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8F97DA-24B0-D47B-9CDD-87AA91784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F0BB2A-D71C-0C75-674D-C462C305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70646-367E-D0C9-225D-D459E188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93E35-7F7E-4EF0-CE1C-8AFD998D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0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415F4-F2FA-AB9A-C220-421932C3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133887-2FD0-928D-6B9E-222B8851C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53BE8F-EA5D-AE50-1118-6A69F2A2E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F44069-D495-2AD9-1A26-4A2272EA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B81A8-CB79-EE95-F82E-07C92438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BED9AB-3685-C591-9034-6FF14F93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6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7EDE8-534C-8BDF-9476-394B051B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E3F35-C560-E716-092F-DF0580DFB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A1E5BD-571D-70EA-511A-E6EF72F0F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365977-0BDD-BF9E-D0CA-90CD95719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75874C-E6C2-68BA-DE06-7BF9F59B0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193DC7-D787-39EE-BAE8-FC489AC4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406F6E-4B3F-90BF-002E-2A32298BB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D8B248-C071-C180-88E4-15BAC877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85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70F6D-0DC6-2255-C7F3-129FCB66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6A8153-CDEE-CDC2-646E-16A85F0A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00C63F-AE42-D832-EC43-81E5E296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5FCADF-4509-92E5-882E-CADCA60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0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26E65A-61FD-EAF4-EA0E-81D05C82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0FE0C2-DB6F-6185-FA10-D19B5C9C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606AD-5A0C-E5C8-FAE0-4290648F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03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BC0DD-2401-D5C4-4E99-AB0337916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A6698-A87B-7BAD-AB72-B2E2D093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4339D-3791-6E39-1A15-9F72A5D9D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AC892-31E0-117F-1569-FEF20D06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7CFBDA-9347-BFEA-87EE-56D67BBA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E8F112-A091-26BE-E685-1E5CFAEF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10C2B-E7AF-AC78-8F4D-BF647EA7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623193-8686-9B46-A308-3BF48786B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5F498D-2227-3B7D-9BDA-E68CBAD3E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DB9C55-64B1-C3BE-4345-FE484B81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46EF6A-9549-32E6-2D3E-98063C56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675D76-E455-3AD0-480B-E8728E3E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79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1FA76-354E-7BF1-F363-E6E10507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C0E51-70BF-D28C-D67E-F4A43F419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A0111-E465-51CB-B533-81FD9898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257476-DB3F-C520-B350-4A7445A9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E8DADE-EB71-7872-9852-92F427C4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80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33691E-9240-FF3C-FF62-9EC5DA925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65391C-2751-E11D-BD4D-DDE3B37D1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533831-ACA1-60FA-8096-BF49AF62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3A5778-BEE6-2F44-E240-DFB15E04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CC990-1B9C-785A-108B-2297B127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989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FDEB5F-7AF5-A6CA-B13F-3096982D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5AA1A9-2A5B-A13F-7125-DE434A892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F6AAC-81D1-106E-3FF5-03A5B6141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2A0-0EDB-44CD-85FE-C84E7923389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8F37F-36CD-9F3F-795B-D1A8F6F3B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DCBDE9-54EC-AC31-985A-F7934CF87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BEA2A-761D-42EB-878F-D3B7184B81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77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4%BA%BA%E5%B7%A5%E7%A5%9E%E7%BB%8F%E7%BD%91%E7%BB%9C" TargetMode="External"/><Relationship Id="rId2" Type="http://schemas.openxmlformats.org/officeDocument/2006/relationships/hyperlink" Target="https://teach-in.ru/file/synopsis/pdf/physatom-M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eindrich-von-Skalitz/Prediction-of-Isotope-Half-life-Using-Neural-Networks" TargetMode="External"/><Relationship Id="rId4" Type="http://schemas.openxmlformats.org/officeDocument/2006/relationships/hyperlink" Target="https://www.nndc.bnl.gov/nudat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9173C-25D1-859E-8E1D-B61C8B089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zh-CN" dirty="0"/>
              <a:t>Применение машиного обучения в Физике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>
                <a:extLst>
                  <a:ext uri="{FF2B5EF4-FFF2-40B4-BE49-F238E27FC236}">
                    <a16:creationId xmlns:a16="http://schemas.microsoft.com/office/drawing/2014/main" id="{BDDD8D27-D626-DECA-EC83-12430422A5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altLang="zh-CN" dirty="0"/>
                  <a:t>Применение машинного обучения для предсказания периода полураспада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l-GR" altLang="zh-CN" dirty="0"/>
                  <a:t>-</a:t>
                </a:r>
                <a:r>
                  <a:rPr lang="ru-RU" altLang="zh-CN" dirty="0"/>
                  <a:t>распад изотопов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ru-RU" altLang="zh-CN" dirty="0"/>
                  <a:t>Ян Ихань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副标题 2">
                <a:extLst>
                  <a:ext uri="{FF2B5EF4-FFF2-40B4-BE49-F238E27FC236}">
                    <a16:creationId xmlns:a16="http://schemas.microsoft.com/office/drawing/2014/main" id="{BDDD8D27-D626-DECA-EC83-12430422A5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6618" b="-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887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10B4F-4AE1-A8B9-1920-F8F25CD7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Содержание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D040EB-E1BF-A6AE-9BDA-DFC5EA819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l-GR" altLang="zh-CN" dirty="0"/>
                  <a:t>-</a:t>
                </a:r>
                <a:r>
                  <a:rPr lang="ru-RU" altLang="zh-CN" dirty="0"/>
                  <a:t>распад</a:t>
                </a:r>
                <a:endParaRPr lang="en-US" altLang="zh-CN" dirty="0"/>
              </a:p>
              <a:p>
                <a:r>
                  <a:rPr lang="ru-RU" altLang="zh-CN" dirty="0"/>
                  <a:t>Машинное обучение и Нейросеть</a:t>
                </a:r>
                <a:endParaRPr lang="en-US" altLang="zh-CN" dirty="0"/>
              </a:p>
              <a:p>
                <a:r>
                  <a:rPr lang="ru-RU" altLang="zh-CN" dirty="0"/>
                  <a:t>Модель</a:t>
                </a:r>
              </a:p>
              <a:p>
                <a:r>
                  <a:rPr lang="ru-RU" altLang="zh-CN" dirty="0"/>
                  <a:t>Результат</a:t>
                </a:r>
              </a:p>
              <a:p>
                <a:r>
                  <a:rPr lang="ru-RU" altLang="zh-CN" dirty="0"/>
                  <a:t>Литература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D040EB-E1BF-A6AE-9BDA-DFC5EA819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75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B114F47-C4BC-04BB-1046-F6A9EAF91B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l-GR" altLang="zh-CN" dirty="0"/>
                  <a:t>-</a:t>
                </a:r>
                <a:r>
                  <a:rPr lang="ru-RU" altLang="zh-CN" dirty="0"/>
                  <a:t>распад и период полураспада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B114F47-C4BC-04BB-1046-F6A9EAF91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DA4F87-91E9-4273-0C69-A7BE041EC1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l-GR" altLang="zh-CN" dirty="0"/>
                  <a:t>-</a:t>
                </a:r>
                <a:r>
                  <a:rPr lang="ru-RU" altLang="zh-CN" dirty="0"/>
                  <a:t>распад</a:t>
                </a:r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Pre>
                            <m:sPre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sPr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ru-RU" altLang="zh-CN" dirty="0"/>
                  <a:t>Период полураспад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ru-RU" altLang="zh-CN" dirty="0"/>
                  <a:t>Вероятность распада</a:t>
                </a:r>
                <a:r>
                  <a:rPr lang="en-US" altLang="zh-CN" dirty="0"/>
                  <a:t>[1, 155]: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endParaRPr lang="el-GR" altLang="zh-CN" dirty="0"/>
              </a:p>
              <a:p>
                <a:pPr marL="0" indent="0">
                  <a:buNone/>
                </a:pPr>
                <a:r>
                  <a:rPr lang="ru-RU" altLang="zh-CN" dirty="0"/>
                  <a:t>Число распадов в единице времени: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ru-RU" altLang="zh-CN" dirty="0"/>
                  <a:t>Тогда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altLang="zh-CN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DA4F87-91E9-4273-0C69-A7BE041EC1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93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61B62-3B94-0E38-9F3A-0ADADF3E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Машинное обучение и Нейросеть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AF0B47-3FFB-A604-9D01-E734D0E5D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zh-CN" dirty="0"/>
              <a:t>Алгоритмы машинного обучения — это класс алгоритмов, которые автоматически выявляют закономерности из данных и используют эти закономерности для прогнозирования неизвестных данных.</a:t>
            </a:r>
            <a:endParaRPr lang="en-US" altLang="zh-CN" dirty="0"/>
          </a:p>
          <a:p>
            <a:r>
              <a:rPr lang="ru-RU" altLang="zh-CN" dirty="0"/>
              <a:t>Нейросеть - это математическая модель, имитирующая связи нервных клеток животных для аппроксимации функций. Нейросеть - один из методов машинного обучения.</a:t>
            </a:r>
            <a:endParaRPr lang="en-US" altLang="zh-CN" dirty="0"/>
          </a:p>
          <a:p>
            <a:pPr marL="0" indent="0">
              <a:buNone/>
            </a:pPr>
            <a:r>
              <a:rPr lang="ru-RU" altLang="zh-CN" dirty="0"/>
              <a:t>Схема простой нейросети:</a:t>
            </a:r>
          </a:p>
          <a:p>
            <a:pPr marL="0" indent="0">
              <a:buNone/>
            </a:pPr>
            <a:r>
              <a:rPr lang="ru-RU" altLang="zh-CN" sz="1800" dirty="0"/>
              <a:t>Зелёные - входные нейроны, голубые – скрытые</a:t>
            </a:r>
          </a:p>
          <a:p>
            <a:pPr marL="0" indent="0">
              <a:buNone/>
            </a:pPr>
            <a:r>
              <a:rPr lang="ru-RU" altLang="zh-CN" sz="1800" dirty="0"/>
              <a:t>нейроны, жёлтые - выходной нейрон</a:t>
            </a:r>
            <a:endParaRPr lang="zh-CN" altLang="en-US" sz="1800" dirty="0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B9931BE2-8606-3FA0-1B5C-828D853DB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51" y="4584274"/>
            <a:ext cx="4099459" cy="218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31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57214-21E3-DF20-F609-6723DA66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Метод градиентного спуска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D2AD2B-54D0-7ADA-F676-8388A9B193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Направление вектора градиента — это направление наискорейшего спуска, поэтому мы можем использовать метод градиентного спуска для приближения к локальному минимуму</a:t>
                </a:r>
                <a:r>
                  <a:rPr lang="en-US" altLang="zh-CN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D2AD2B-54D0-7ADA-F676-8388A9B19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92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54640-171F-C2AB-B8A2-E2FE7079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Пример градиентного спуска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62D696-6FA5-CC09-A298-899151A78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altLang="zh-CN" dirty="0"/>
                  <a:t>В эксперименте мы получили абсорбционный спектр смеси двух растворов. И мы хотим проверить принцип линейной суперпозиции оптической плотности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altLang="zh-CN" dirty="0"/>
                  <a:t>, однако мы получили следующие результаты. В этом случае нам потребуется использовать метод градиентного спуска.</a:t>
                </a:r>
              </a:p>
              <a:p>
                <a:pPr lvl="8"/>
                <a:r>
                  <a:rPr lang="ru-RU" altLang="zh-CN" sz="2800" dirty="0"/>
                  <a:t>Задача будет такая:</a:t>
                </a:r>
                <a:r>
                  <a:rPr lang="en-US" altLang="zh-CN" sz="2800" dirty="0"/>
                  <a:t> </a:t>
                </a:r>
                <a:r>
                  <a:rPr lang="ru-RU" altLang="zh-CN" sz="2800" dirty="0"/>
                  <a:t>найти минимальную</a:t>
                </a:r>
                <a:r>
                  <a:rPr lang="en-US" altLang="zh-CN" sz="2800" dirty="0"/>
                  <a:t> </a:t>
                </a:r>
                <a:r>
                  <a:rPr lang="ru-RU" altLang="zh-CN" sz="2800" dirty="0"/>
                  <a:t>ошибку.</a:t>
                </a:r>
              </a:p>
              <a:p>
                <a:pPr marL="3657600" lvl="8" indent="0">
                  <a:buNone/>
                </a:pPr>
                <a:r>
                  <a:rPr lang="ru-RU" altLang="zh-CN" sz="2800" dirty="0"/>
                  <a:t>Функция ошибки: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𝑒𝑥𝑝</m:t>
                                    </m:r>
                                  </m:sub>
                                </m:s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𝑐𝑎𝑙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800" dirty="0"/>
              </a:p>
              <a:p>
                <a:pPr marL="3657600" lvl="8" indent="0">
                  <a:buNone/>
                </a:pPr>
                <a:r>
                  <a:rPr lang="ru-RU" altLang="zh-CN" sz="2800" dirty="0"/>
                  <a:t>Градиент: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𝑐𝑎𝑙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800" dirty="0"/>
              </a:p>
              <a:p>
                <a:pPr marL="3657600" lvl="8" indent="0">
                  <a:buNone/>
                </a:pPr>
                <a:r>
                  <a:rPr lang="ru-RU" altLang="zh-CN" sz="2800" dirty="0"/>
                  <a:t>Итерационная формула:</a:t>
                </a:r>
                <a:r>
                  <a:rPr lang="en-US" altLang="zh-CN" sz="2800" dirty="0"/>
                  <a:t> 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marL="3657600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𝑐𝑎𝑙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62D696-6FA5-CC09-A298-899151A78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6CC7B81D-5C42-1825-F587-0F2C997A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76" y="3891668"/>
            <a:ext cx="3431670" cy="27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0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3CD15-7D6D-3BD6-C8D7-894B7FF3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Пример градиентного спуска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F2BB2D0-20C3-7767-5184-1927F4702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848" y="1690688"/>
            <a:ext cx="4284951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CFDF37-1644-548F-FABA-F438A9E4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458" y="1690688"/>
            <a:ext cx="5481136" cy="42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64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A6ACD-061E-553B-74FD-DDB18E20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Пример машинного обучения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57B68-BC84-E1AF-D600-E64B76EC1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altLang="zh-CN" dirty="0"/>
              <a:t>Имеется ведомость успеваемости. Требуется выявить связь, позволяющую на основе текущих оценок студента спрогнозировать его итоговую оценку на экзамене по уровням: very_low (неуд.), low (уд.), middle (хор.) или high (отл.).</a:t>
            </a:r>
            <a:endParaRPr lang="en-US" altLang="zh-CN" dirty="0"/>
          </a:p>
          <a:p>
            <a:pPr lvl="7"/>
            <a:r>
              <a:rPr lang="ru-RU" altLang="zh-CN" sz="2800" dirty="0"/>
              <a:t>Сначала данные должны быть оцифрованы. Для предотвращения переполнения с плавающей запятой рекомендуется провести нормализацию.</a:t>
            </a:r>
          </a:p>
          <a:p>
            <a:pPr lvl="7"/>
            <a:r>
              <a:rPr lang="ru-RU" altLang="zh-CN" sz="2800" dirty="0"/>
              <a:t>В этой задаче оценка студента преобразуется в четырёхмерный вероятностный вектор.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440D23-1C79-6893-0A90-D6C13E71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96" y="3605755"/>
            <a:ext cx="2728262" cy="257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8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A04FA-FA7E-B555-B9ED-495F458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Пример машинного обучения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FD84FE5-F557-1638-CF0F-38606A84F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970" y="1830574"/>
            <a:ext cx="482984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7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B26B5-164B-A0D2-BF1C-3A15F4F2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Вычисление вероятность с полиномами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27F032-0BB6-2C68-01F9-C3356CB1D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Вектор, составленный из полиномов, имеет следующий вид: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27F032-0BB6-2C68-01F9-C3356CB1D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03973830-98AD-AE86-7BFD-C028BEA8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8187"/>
            <a:ext cx="12192000" cy="198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3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0C1CF-64C5-CD64-CD2F-7C9F46A1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Вычисление вероятность с полиномами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295443-5390-480C-54BE-DC9A3726B1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Функция потерь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ru-RU" altLang="zh-CN" dirty="0"/>
                  <a:t>Его градиент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altLang="zh-CN" dirty="0"/>
                  <a:t> будет: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295443-5390-480C-54BE-DC9A3726B1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971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CBDCE-6CE5-BBEB-5E83-AEDF0E67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Вычисление вероятность с полиномами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5AD1D1-1ED1-832D-A481-A9B44470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Алгоритм обучения</a:t>
            </a:r>
            <a:r>
              <a:rPr lang="en-US" altLang="zh-CN" dirty="0"/>
              <a:t> (</a:t>
            </a:r>
            <a:r>
              <a:rPr lang="ru-RU" altLang="zh-CN" dirty="0"/>
              <a:t>Градиент спуск</a:t>
            </a:r>
            <a:r>
              <a:rPr lang="en-US" altLang="zh-CN" dirty="0"/>
              <a:t>)</a:t>
            </a:r>
            <a:r>
              <a:rPr lang="ru-RU" altLang="zh-CN" dirty="0"/>
              <a:t>: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FD5150-F0B2-7DD3-E127-955C4E35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8322"/>
            <a:ext cx="3651415" cy="45005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018170-BEFC-F866-1796-A5BD239D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15" y="2308322"/>
            <a:ext cx="4079884" cy="41278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A0D5FB-353C-BD5D-95EA-2F1943D0A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499" y="2308322"/>
            <a:ext cx="3279132" cy="17420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A64322-AA62-B05E-F37D-44C6D9B14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075" y="4434771"/>
            <a:ext cx="590632" cy="2572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9B3DF9A-01A3-7E34-4144-7FA3F0425335}"/>
              </a:ext>
            </a:extLst>
          </p:cNvPr>
          <p:cNvSpPr txBox="1"/>
          <p:nvPr/>
        </p:nvSpPr>
        <p:spPr>
          <a:xfrm>
            <a:off x="8527842" y="4065439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dirty="0"/>
              <a:t>Медленно как бабушка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536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C35A2-96B3-E6F9-E938-309C085F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Вычисление вероятность с полиномами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D88C6-D44C-41ED-A259-F299D8820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Для обучающей выборки: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ru-RU" altLang="zh-CN" dirty="0"/>
              <a:t>Для тестовой выборки: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9BAB343-E4DD-C20C-1BEA-A0A50495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3383"/>
            <a:ext cx="4486901" cy="14956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8CAA77F-25FF-94A6-DF71-78987C88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36775"/>
            <a:ext cx="4791744" cy="148610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E60A9BE-F860-D14A-420A-5FFBB3BB737E}"/>
              </a:ext>
            </a:extLst>
          </p:cNvPr>
          <p:cNvSpPr txBox="1"/>
          <p:nvPr/>
        </p:nvSpPr>
        <p:spPr>
          <a:xfrm>
            <a:off x="5457892" y="2333382"/>
            <a:ext cx="6354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sz="2400" dirty="0"/>
              <a:t>Это типичная регрессионная задача.</a:t>
            </a:r>
            <a:endParaRPr lang="en-US" altLang="zh-CN" sz="2400" dirty="0"/>
          </a:p>
          <a:p>
            <a:r>
              <a:rPr lang="ru-RU" altLang="zh-CN" sz="2400" dirty="0"/>
              <a:t>По сути, она представляет собой один из</a:t>
            </a:r>
            <a:endParaRPr lang="en-US" altLang="zh-CN" sz="2400" dirty="0"/>
          </a:p>
          <a:p>
            <a:r>
              <a:rPr lang="ru-RU" altLang="zh-CN" sz="2400" dirty="0"/>
              <a:t>способов решения МНК (метод градиентного спуска).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91765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73CE6-7235-CB16-20CF-C2DC263A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ea typeface="Microsoft Himalaya" panose="01010100010101010101" pitchFamily="2" charset="0"/>
                <a:cs typeface="Arial" panose="020B0604020202020204" pitchFamily="34" charset="0"/>
              </a:rPr>
              <a:t>K-Nearest Neighbors </a:t>
            </a:r>
            <a:r>
              <a:rPr lang="en-US" altLang="zh-CN" sz="4000" dirty="0"/>
              <a:t>(</a:t>
            </a:r>
            <a:r>
              <a:rPr lang="ru-RU" altLang="zh-CN" sz="4000" dirty="0"/>
              <a:t>К-Ближайшие соседи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27618D-8E20-DD16-0E5F-462F5AF63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Это задача классификации. Алгоритм KNN выбирает K ближайших соседей и посредством некоторых математических операций определяет класс.</a:t>
            </a:r>
            <a:endParaRPr lang="zh-CN" alt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11BDF58-F8E6-0A4A-928E-79E35BF3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78" y="2912301"/>
            <a:ext cx="4304374" cy="388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0CF2BB-C49B-B576-BF21-51D696391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05503"/>
            <a:ext cx="4652855" cy="385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0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40755-E165-648E-06B4-EC1CCC2F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ea typeface="Microsoft Himalaya" panose="01010100010101010101" pitchFamily="2" charset="0"/>
                <a:cs typeface="Arial" panose="020B0604020202020204" pitchFamily="34" charset="0"/>
              </a:rPr>
              <a:t>K-Nearest Neighbors </a:t>
            </a:r>
            <a:r>
              <a:rPr lang="en-US" altLang="zh-CN" sz="4000" dirty="0"/>
              <a:t>(</a:t>
            </a:r>
            <a:r>
              <a:rPr lang="ru-RU" altLang="zh-CN" sz="4000" dirty="0"/>
              <a:t>К-Ближайшие соседи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42A115-6F42-3EE4-F003-56E3FC94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Для тестовой выборки: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6C7610-54B0-EE12-945E-3451586C0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4294"/>
            <a:ext cx="5191850" cy="35628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5DD2B29-4C10-8D53-A107-36E0660528C3}"/>
              </a:ext>
            </a:extLst>
          </p:cNvPr>
          <p:cNvSpPr txBox="1"/>
          <p:nvPr/>
        </p:nvSpPr>
        <p:spPr>
          <a:xfrm>
            <a:off x="1866378" y="488515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b="1" dirty="0">
                <a:solidFill>
                  <a:schemeClr val="bg1"/>
                </a:solidFill>
              </a:rPr>
              <a:t>Быстро</a:t>
            </a:r>
            <a:r>
              <a:rPr lang="en-US" altLang="zh-CN" b="1" dirty="0">
                <a:solidFill>
                  <a:schemeClr val="bg1"/>
                </a:solidFill>
              </a:rPr>
              <a:t> </a:t>
            </a:r>
            <a:r>
              <a:rPr lang="ru-RU" altLang="zh-CN" b="1" dirty="0">
                <a:solidFill>
                  <a:schemeClr val="bg1"/>
                </a:solidFill>
              </a:rPr>
              <a:t>как свет.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17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5F359-ACE6-BCEB-9311-8E78942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Нейросеть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0881E-D1AE-4E0E-177A-CFCE8C20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Мы можем рассматривать нейронную сеть как математическую модель, состоящую из нескольких скрытых слоёв.</a:t>
            </a:r>
            <a:endParaRPr lang="en-US" altLang="zh-CN" dirty="0"/>
          </a:p>
          <a:p>
            <a:r>
              <a:rPr lang="ru-RU" altLang="zh-CN" dirty="0"/>
              <a:t>Каждый слой состоит из нескольких нейронов. Для повышения производительности мы рассматриваем каждый слой как векторный класс.</a:t>
            </a:r>
            <a:endParaRPr lang="zh-CN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C30F5AB-C3D8-DB6C-C360-776C42F9F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26" y="4344934"/>
            <a:ext cx="3340020" cy="223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D4CEE09-133F-8954-F380-6ABE588AD4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41"/>
          <a:stretch>
            <a:fillRect/>
          </a:stretch>
        </p:blipFill>
        <p:spPr bwMode="auto">
          <a:xfrm>
            <a:off x="3866287" y="4344934"/>
            <a:ext cx="2655853" cy="203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F0B1F5-B283-7CFA-CDAE-A5239E8F8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140" y="4266868"/>
            <a:ext cx="5430493" cy="210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1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12220-CB6C-DAA1-D2E7-EC9590CB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Функция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forward()</a:t>
            </a:r>
            <a:r>
              <a:rPr lang="ru-RU" altLang="zh-CN" dirty="0"/>
              <a:t> нейросети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81A676-E195-7221-7CA2-4726A4688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Для линейного слоя мы используем матричное умножение для вычисления выходных данных. Если вход представляет собой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altLang="zh-CN" dirty="0"/>
                  <a:t> векторов-строк размерности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altLang="zh-CN" dirty="0"/>
                  <a:t> (матрица размера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altLang="zh-CN" dirty="0"/>
                  <a:t>), а выход —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altLang="zh-CN" dirty="0"/>
                  <a:t> векторов-строк размерности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zh-CN" dirty="0"/>
                  <a:t> (матрица размера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zh-CN" dirty="0"/>
                  <a:t>), то матрица весов должна иметь размер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zh-CN" dirty="0"/>
                  <a:t>, а смещение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altLang="zh-CN" dirty="0"/>
                  <a:t> должно быть вектором-строкой</a:t>
                </a:r>
                <a:r>
                  <a:rPr lang="en-US" altLang="zh-CN" dirty="0"/>
                  <a:t> </a:t>
                </a:r>
                <a:r>
                  <a:rPr lang="ru-RU" altLang="zh-CN" dirty="0"/>
                  <a:t>размерности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zh-CN" dirty="0"/>
                  <a:t> (размера </a:t>
                </a:r>
                <a14:m>
                  <m:oMath xmlns:m="http://schemas.openxmlformats.org/officeDocument/2006/math">
                    <m:r>
                      <a:rPr lang="ru-RU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zh-CN" dirty="0"/>
                  <a:t>). Таким образом реализуется линейный слой.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81A676-E195-7221-7CA2-4726A4688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A29F61B-07F7-8BB4-A0D3-8BDF25222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41" y="4860903"/>
            <a:ext cx="2086266" cy="6096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DF0884-03CB-A317-3150-F00B6DBC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997" y="4927763"/>
            <a:ext cx="5276559" cy="18411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74BE455-A5B3-6D57-6201-3F7F764D9977}"/>
                  </a:ext>
                </a:extLst>
              </p:cNvPr>
              <p:cNvSpPr txBox="1"/>
              <p:nvPr/>
            </p:nvSpPr>
            <p:spPr>
              <a:xfrm>
                <a:off x="147286" y="5470588"/>
                <a:ext cx="344471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US" altLang="zh-CN" sz="16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X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: </a:t>
                </a:r>
                <a:r>
                  <a:rPr lang="ru-RU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входная матрица размера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sz="1600" i="0" dirty="0">
                  <a:latin typeface="quote-cjk-patch"/>
                </a:endParaRPr>
              </a:p>
              <a:p>
                <a:pPr algn="l">
                  <a:buNone/>
                </a:pPr>
                <a:r>
                  <a:rPr lang="en-US" altLang="zh-CN" sz="16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W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: </a:t>
                </a:r>
                <a:r>
                  <a:rPr lang="ru-RU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матрица весов размера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zh-CN" sz="1600" i="0" dirty="0">
                  <a:latin typeface="quote-cjk-patch"/>
                </a:endParaRPr>
              </a:p>
              <a:p>
                <a:pPr algn="l">
                  <a:buNone/>
                </a:pPr>
                <a:r>
                  <a:rPr lang="en-US" altLang="zh-CN" sz="16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b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: </a:t>
                </a:r>
                <a:r>
                  <a:rPr lang="ru-RU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вектор смещения размера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zh-CN" sz="1600" i="0" dirty="0">
                  <a:latin typeface="quote-cjk-patch"/>
                </a:endParaRPr>
              </a:p>
              <a:p>
                <a:pPr algn="l">
                  <a:buNone/>
                </a:pPr>
                <a:r>
                  <a:rPr lang="en-US" altLang="zh-CN" sz="16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Z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: </a:t>
                </a:r>
                <a:r>
                  <a:rPr lang="ru-RU" altLang="zh-CN" sz="16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выходная матрица размера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solidFill>
                              <a:srgbClr val="0F1115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ru-RU" altLang="zh-CN" sz="16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74BE455-A5B3-6D57-6201-3F7F764D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6" y="5470588"/>
                <a:ext cx="3444711" cy="1077218"/>
              </a:xfrm>
              <a:prstGeom prst="rect">
                <a:avLst/>
              </a:prstGeom>
              <a:blipFill>
                <a:blip r:embed="rId5"/>
                <a:stretch>
                  <a:fillRect l="-885" t="-1695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785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D1E58-CDC1-D704-D5D0-1AA3B7B8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Функция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meansquareerror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altLang="zh-CN" dirty="0"/>
              <a:t> нейросети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43B44C-1CC1-B1F8-7055-029447130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altLang="zh-CN" dirty="0"/>
                  <a:t>Функция среднеквадратичной ошибки (</a:t>
                </a:r>
                <a:r>
                  <a:rPr lang="en-US" altLang="zh-CN" dirty="0"/>
                  <a:t>MSE):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𝑡𝑎𝑟𝑔𝑒𝑡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𝑐𝑎𝑙𝑐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ru-RU" altLang="zh-CN" dirty="0"/>
                  <a:t>Частные производные легко вычисляются следующим образом: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𝑃𝑎𝑟𝑎𝑚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𝑐𝑎𝑙𝑐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𝑃𝑎𝑟𝑎𝑚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𝑐𝑎𝑙𝑐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𝑡𝑎𝑟𝑔𝑒𝑡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43B44C-1CC1-B1F8-7055-029447130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B968979-C394-CCFD-19A4-F1FF2C825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37754"/>
            <a:ext cx="5030764" cy="194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2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8C08B-1425-B795-19C4-ADF2D4D0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zh-CN" sz="3600" dirty="0"/>
              <a:t>Функция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backward()</a:t>
            </a:r>
            <a:r>
              <a:rPr lang="ru-RU" altLang="zh-CN" sz="3600" dirty="0"/>
              <a:t> нейросети</a:t>
            </a:r>
            <a:br>
              <a:rPr lang="ru-RU" altLang="zh-CN" sz="3600" dirty="0"/>
            </a:br>
            <a:r>
              <a:rPr lang="en-US" altLang="zh-CN" sz="3600" dirty="0"/>
              <a:t>(</a:t>
            </a:r>
            <a:r>
              <a:rPr lang="ru-RU" altLang="zh-CN" sz="3600" dirty="0"/>
              <a:t>функция для вычисления градиента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E96D07-35E2-4133-7937-4E7E4C4CCF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В линейном слое имеет место: </a:t>
                </a:r>
                <a14:m>
                  <m:oMath xmlns:m="http://schemas.openxmlformats.org/officeDocument/2006/math">
                    <m:r>
                      <a:rPr lang="zh-CN" altLang="ru-RU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ru-RU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r>
                  <a:rPr lang="ru-RU" altLang="zh-CN" dirty="0"/>
                  <a:t>Тогда: 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Loss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kl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𝑗𝑙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- </a:t>
                </a:r>
                <a:r>
                  <a:rPr lang="ru-RU" altLang="zh-CN" dirty="0"/>
                  <a:t>Тензор Якоби.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E96D07-35E2-4133-7937-4E7E4C4CCF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D3D76E8-27FB-2875-2053-B639472A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663" y="4461530"/>
            <a:ext cx="5544324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2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F3B7C-E115-059B-3544-1F2D8AC2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Нелинейный слой Нейросети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E7B969-7F9C-09C2-EB8D-F3FA7C5C2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Чтобы придать модели способность к нелинейной аппроксимации, мы можем добавить нелинейный слой активации. Слой ReLU является очень хорошим выбором. Функция ReLU: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E7B969-7F9C-09C2-EB8D-F3FA7C5C2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F50696C-C018-5BA2-2DEE-B2D265C8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081" y="3094134"/>
            <a:ext cx="3014719" cy="22741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7A8C1C-EC6F-E07F-0362-187C57ED2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571" y="4001294"/>
            <a:ext cx="4648849" cy="253400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80FB8-F39F-094E-CCE1-45354A0E40E6}"/>
              </a:ext>
            </a:extLst>
          </p:cNvPr>
          <p:cNvSpPr txBox="1"/>
          <p:nvPr/>
        </p:nvSpPr>
        <p:spPr>
          <a:xfrm>
            <a:off x="201023" y="4001294"/>
            <a:ext cx="33445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/>
              <a:t>Если выход нейрона перед слоем ReLU отрицателен, то можно считать, что этот нейрон «умер». Он больше не будет получать обновления градиента.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6798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E4312-F68C-B218-BD11-9F334CC1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Нелинейный слой Нейросети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65BB3D-096E-31A6-721F-18E7649E6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Чтобы избежать паралича сети из-за «кончины» нейронов, можно использовать LeakyReLU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ReLU</a:t>
                </a:r>
                <a:r>
                  <a:rPr lang="en-US" altLang="zh-CN" dirty="0"/>
                  <a:t> </a:t>
                </a:r>
                <a:r>
                  <a:rPr lang="ru-RU" altLang="zh-CN" dirty="0"/>
                  <a:t>с утечкой</a:t>
                </a:r>
                <a:r>
                  <a:rPr lang="en-US" altLang="zh-CN" dirty="0"/>
                  <a:t>)</a:t>
                </a:r>
                <a:r>
                  <a:rPr lang="ru-RU" altLang="zh-CN" dirty="0"/>
                  <a:t>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LeakyReLU</m:t>
                      </m:r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ru-RU" altLang="zh-CN" dirty="0"/>
                  <a:t>Обычно </a:t>
                </a:r>
                <a14:m>
                  <m:oMath xmlns:m="http://schemas.openxmlformats.org/officeDocument/2006/math">
                    <m:r>
                      <a:rPr lang="zh-CN" altLang="ru-RU" i="1"/>
                      <m:t>𝛼</m:t>
                    </m:r>
                    <m:r>
                      <a:rPr lang="ru-RU" altLang="zh-CN"/>
                      <m:t>=</m:t>
                    </m:r>
                    <m:r>
                      <a:rPr lang="ru-RU" altLang="zh-CN"/>
                      <m:t>0</m:t>
                    </m:r>
                    <m:r>
                      <a:rPr lang="ru-RU" altLang="zh-CN"/>
                      <m:t>.</m:t>
                    </m:r>
                    <m:r>
                      <a:rPr lang="ru-RU" altLang="zh-CN"/>
                      <m:t>01</m:t>
                    </m:r>
                  </m:oMath>
                </a14:m>
                <a:endParaRPr lang="en-US" altLang="zh-CN" dirty="0"/>
              </a:p>
              <a:p>
                <a:r>
                  <a:rPr lang="ru-RU" altLang="zh-CN" dirty="0"/>
                  <a:t>Синий — положительные входные</a:t>
                </a:r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ru-RU" altLang="zh-CN" dirty="0"/>
                  <a:t>оранжевый — отрицательные входн</a:t>
                </a:r>
                <a:r>
                  <a:rPr lang="en-US" altLang="zh-CN" dirty="0"/>
                  <a:t>-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ru-RU" altLang="zh-CN" dirty="0"/>
                  <a:t>ые.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65BB3D-096E-31A6-721F-18E7649E6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523F996-0D29-4C12-4A79-D097EF58C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94" y="3543692"/>
            <a:ext cx="4199606" cy="311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03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AC89F-2A87-34AB-9357-E0C81810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zh-CN" sz="3600" dirty="0"/>
              <a:t>Аппроксимация функции с помощью нейросети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71F5D-269D-1D10-CDF2-4389D991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Это очень сложная нелинейная функция.</a:t>
            </a:r>
            <a:endParaRPr lang="en-US" altLang="zh-CN" dirty="0"/>
          </a:p>
          <a:p>
            <a:endParaRPr lang="en-US" altLang="zh-CN" dirty="0"/>
          </a:p>
          <a:p>
            <a:r>
              <a:rPr lang="ru-RU" altLang="zh-CN" dirty="0"/>
              <a:t>Это график функции (оранжевый), а также выбранные нами обучающие точки и данные, вычисленные нейросетью (синий). Справа</a:t>
            </a:r>
            <a:r>
              <a:rPr lang="en-US" altLang="zh-CN" dirty="0"/>
              <a:t> –</a:t>
            </a:r>
            <a:r>
              <a:rPr lang="ru-RU" altLang="zh-CN" dirty="0"/>
              <a:t> после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ru-RU" altLang="zh-CN" dirty="0"/>
              <a:t>обучения (синий).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E54270-43A0-CAC8-3A50-28537726E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6062"/>
            <a:ext cx="8983329" cy="5525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58BC20-89C5-BDDF-F615-EF7C32407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340" y="3862724"/>
            <a:ext cx="3341039" cy="24754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29535C-C6AA-C644-FACF-E6062C783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379" y="3888992"/>
            <a:ext cx="3277112" cy="24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35EAA-E942-97C1-9F70-0C59E98B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zh-CN" sz="3600" dirty="0"/>
              <a:t>Аппроксимация функции с помощью нейросети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0F267B-9B0C-7CE6-D53B-D15B38A3A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Очевидно, что экстраполяционная способность нейросети очень плохая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CB782D-7803-EC96-9ADB-733368D54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930" y="2780021"/>
            <a:ext cx="4918139" cy="366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27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84ACD-40E8-9341-8ED0-0D5B73B6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zh-CN" sz="4000" dirty="0"/>
              <a:t>Использование нейросети для решения</a:t>
            </a:r>
            <a:r>
              <a:rPr lang="en-US" altLang="zh-CN" sz="4000" dirty="0"/>
              <a:t> </a:t>
            </a:r>
            <a:r>
              <a:rPr lang="ru-RU" altLang="zh-CN" sz="4000" dirty="0"/>
              <a:t>предыдущей задачи.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01532-5D0E-451D-4EF7-A209EE698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Очевидно, что нейросеть значительно превосходит как KNN, так и вычисление вероятность с полиномами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E408BB-C23C-C5C5-E15F-1CE225C7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8" y="2634884"/>
            <a:ext cx="4525548" cy="4223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5F03BA-1BA5-5BBB-7466-45CC8AE3A541}"/>
              </a:ext>
            </a:extLst>
          </p:cNvPr>
          <p:cNvSpPr txBox="1"/>
          <p:nvPr/>
        </p:nvSpPr>
        <p:spPr>
          <a:xfrm>
            <a:off x="405037" y="3490370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ru-RU" altLang="zh-CN" dirty="0">
                <a:solidFill>
                  <a:schemeClr val="bg1"/>
                </a:solidFill>
              </a:rPr>
              <a:t>И она довольно быстрая.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4ADAE9-F228-2FD7-536B-0429A696D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816" y="3165071"/>
            <a:ext cx="4810796" cy="15813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7CC7D5B-1090-A7EE-983D-D6A1BFEE87E4}"/>
              </a:ext>
            </a:extLst>
          </p:cNvPr>
          <p:cNvSpPr txBox="1"/>
          <p:nvPr/>
        </p:nvSpPr>
        <p:spPr>
          <a:xfrm>
            <a:off x="5056816" y="2715312"/>
            <a:ext cx="432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dirty="0"/>
              <a:t>Вычисление вероятность с полиномами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8BDBF5-1862-28A9-23B1-AC2A017A1236}"/>
              </a:ext>
            </a:extLst>
          </p:cNvPr>
          <p:cNvSpPr txBox="1"/>
          <p:nvPr/>
        </p:nvSpPr>
        <p:spPr>
          <a:xfrm>
            <a:off x="5056815" y="487902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KNN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EB93C40-B344-AF9D-D79D-6C661FD3B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816" y="5380940"/>
            <a:ext cx="249589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74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DC794-C55E-9790-9D49-B5AB2FCC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Переобучение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04A54-48DF-C296-057E-EF3D98FCE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Жёсткая тренировка чуть не угробила модель. Чтобы выжить, она выбрала зубрёжку и в итоге вызубрила обучающую выборку наизусть, но её способности стали только хуже. Однако точность модели при этом действительно очень высокая.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AD3A4D-B4E6-C895-459D-B820A344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98" y="3429000"/>
            <a:ext cx="2917591" cy="34057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99453D6-5805-2939-F3F1-C7171FD6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21" r="25013"/>
          <a:stretch>
            <a:fillRect/>
          </a:stretch>
        </p:blipFill>
        <p:spPr>
          <a:xfrm>
            <a:off x="6633465" y="3429000"/>
            <a:ext cx="374489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07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66892-94FA-EE92-6B8C-886953E5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Переобучение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59A7E2-2F7A-BDF0-79C9-7286F1C9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Оранжевый </a:t>
            </a:r>
            <a:r>
              <a:rPr lang="en-US" altLang="zh-CN" dirty="0"/>
              <a:t>-</a:t>
            </a:r>
            <a:r>
              <a:rPr lang="ru-RU" altLang="zh-CN" dirty="0"/>
              <a:t> обучающая выборка, синий </a:t>
            </a:r>
            <a:r>
              <a:rPr lang="en-US" altLang="zh-CN" dirty="0"/>
              <a:t>-</a:t>
            </a:r>
            <a:r>
              <a:rPr lang="ru-RU" altLang="zh-CN" dirty="0"/>
              <a:t> тестовая выборка.</a:t>
            </a:r>
            <a:endParaRPr lang="en-US" altLang="zh-CN" dirty="0"/>
          </a:p>
          <a:p>
            <a:r>
              <a:rPr lang="ru-RU" altLang="zh-CN" dirty="0"/>
              <a:t>Оранжевая линия </a:t>
            </a:r>
            <a:r>
              <a:rPr lang="en-US" altLang="zh-CN" dirty="0"/>
              <a:t>-</a:t>
            </a:r>
            <a:r>
              <a:rPr lang="ru-RU" altLang="zh-CN" dirty="0"/>
              <a:t> теоретическое значение, синяя линия </a:t>
            </a:r>
            <a:r>
              <a:rPr lang="en-US" altLang="zh-CN" dirty="0"/>
              <a:t>-</a:t>
            </a:r>
            <a:r>
              <a:rPr lang="ru-RU" altLang="zh-CN" dirty="0"/>
              <a:t> результат аппроксимации.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88A178-51B0-DB58-622A-659836D34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9018"/>
            <a:ext cx="4820034" cy="36689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AC4F66-4B8C-C3DD-2E3C-C786CC20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280" y="3189018"/>
            <a:ext cx="4820033" cy="361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54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15ADA1C-A598-E466-37D5-4723BEA341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ru-RU" altLang="zh-CN" sz="3200" dirty="0"/>
                  <a:t>Применение машинного обучения для предсказания периода полураспада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altLang="zh-CN" sz="32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ru-RU" altLang="zh-CN" sz="32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ru-RU" altLang="zh-CN" sz="3200" dirty="0"/>
                  <a:t>-распад изотопов</a:t>
                </a:r>
                <a:endParaRPr lang="zh-CN" altLang="en-US" sz="3200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15ADA1C-A598-E466-37D5-4723BEA34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b="-1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C122D7-BC34-2908-C4CE-E48ED40CC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Для предсказания мы будем использовать входные данные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altLang="zh-CN" dirty="0"/>
                  <a:t>(число нейтронов, число протонов, чётность числа протонов и нейтронов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ru-RU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altLang="zh-CN" b="0" i="1" smtClean="0">
                                <a:latin typeface="Cambria Math" panose="02040503050406030204" pitchFamily="18" charset="0"/>
                              </a:rPr>
                              <m:t>нечётно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ru-RU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altLang="zh-CN" b="0" i="1" smtClean="0">
                                <a:latin typeface="Cambria Math" panose="02040503050406030204" pitchFamily="18" charset="0"/>
                              </a:rPr>
                              <m:t>нечётно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ru-RU" altLang="zh-CN" b="0" i="1" smtClean="0">
                                <a:latin typeface="Cambria Math" panose="02040503050406030204" pitchFamily="18" charset="0"/>
                              </a:rPr>
                              <m:t>, Иначе                                   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ru-RU" altLang="zh-CN" i="1">
                                <a:latin typeface="Cambria Math" panose="02040503050406030204" pitchFamily="18" charset="0"/>
                              </a:rPr>
                              <m:t> − чётно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ru-RU" altLang="zh-CN" i="1">
                                <a:latin typeface="Cambria Math" panose="02040503050406030204" pitchFamily="18" charset="0"/>
                              </a:rPr>
                              <m:t>−чётно</m:t>
                            </m:r>
                            <m:r>
                              <a:rPr lang="ru-RU" altLang="zh-CN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altLang="zh-CN" dirty="0"/>
                  <a:t>, разность чисел нейтронов и протонов </a:t>
                </a:r>
                <a14:m>
                  <m:oMath xmlns:m="http://schemas.openxmlformats.org/officeDocument/2006/math">
                    <m:r>
                      <a:rPr lang="ru-RU" altLang="zh-CN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𝑁𝑛</m:t>
                            </m:r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𝑁𝑝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𝑁𝑛</m:t>
                            </m:r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 altLang="zh-CN" i="1" dirty="0" smtClean="0">
                                <a:latin typeface="Cambria Math" panose="02040503050406030204" pitchFamily="18" charset="0"/>
                              </a:rPr>
                              <m:t>𝑁𝑝</m:t>
                            </m:r>
                          </m:e>
                        </m:d>
                      </m:den>
                    </m:f>
                  </m:oMath>
                </a14:m>
                <a:r>
                  <a:rPr lang="ru-RU" altLang="zh-CN" dirty="0"/>
                  <a:t>, разность энергий реакции распада, погрешность разности энергий, погрешность периода полураспада)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C122D7-BC34-2908-C4CE-E48ED40CC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753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8ADD7-CAD3-2C72-1876-D474AB4A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Предобработка набора данных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1761E-BE65-102A-3960-6908A3D54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zh-CN" dirty="0"/>
              <a:t>Выбрать 80% в качестве обучающей выборки, 10% — в качестве валидационной, остальное — в качестве тестовой.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FF1D24-62CC-44FA-FE6B-AAA0D533F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0242"/>
            <a:ext cx="5084459" cy="410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40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7BE34-ED8D-12B4-A288-DC77D5BD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Обучение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57B2C-6501-DA10-C0A5-B0BD72A54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36046" cy="4351338"/>
          </a:xfrm>
        </p:spPr>
        <p:txBody>
          <a:bodyPr>
            <a:normAutofit/>
          </a:bodyPr>
          <a:lstStyle/>
          <a:p>
            <a:r>
              <a:rPr lang="ru-RU" altLang="zh-CN" dirty="0"/>
              <a:t>Чтобы избежать переобучения, я сделал так, что код теряет терпение</a:t>
            </a:r>
            <a:r>
              <a:rPr lang="en-US" altLang="zh-CN" dirty="0"/>
              <a:t>(patience)</a:t>
            </a:r>
            <a:r>
              <a:rPr lang="ru-RU" altLang="zh-CN" dirty="0"/>
              <a:t> и прекращает обучение, если среднеквадратичная ошибка на валидационной выборке не уменьшается в течение 100 итераций подряд, и использует наилучшие параметры, полученные для валидационной выборки.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5C19E8-9384-33B5-06E6-E7121B205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246" y="1690687"/>
            <a:ext cx="4517754" cy="482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77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9D439-0F85-B284-4774-16AD7130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Результаты обучения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4A21DF-D5EE-B432-5807-DFA2852485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51885"/>
                <a:ext cx="10515600" cy="3325078"/>
              </a:xfrm>
            </p:spPr>
            <p:txBody>
              <a:bodyPr>
                <a:normAutofit/>
              </a:bodyPr>
              <a:lstStyle/>
              <a:p>
                <a:r>
                  <a:rPr lang="ru-RU" altLang="zh-CN" dirty="0"/>
                  <a:t>Это результат одного из обучений. Среднеквадратичная ошибка на тестовой выборке составляет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ru-RU" altLang="zh-CN" dirty="0"/>
                  <a:t>, и можно приблизительно считать, что абсолютная погрешность на тестовой выборке равна 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*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658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4A21DF-D5EE-B432-5807-DFA285248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51885"/>
                <a:ext cx="10515600" cy="3325078"/>
              </a:xfrm>
              <a:blipFill>
                <a:blip r:embed="rId2"/>
                <a:stretch>
                  <a:fillRect l="-1043" t="-3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A1E01E3-A879-9D34-3D41-0D9DFD9E1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46725"/>
            <a:ext cx="7906853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55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C1527-ECD0-E618-76A5-7D598BA4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Результаты обучения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1D86A-59A7-7387-92A4-DD20AB483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altLang="zh-CN" dirty="0"/>
                  <a:t>Если модель вычислила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ru-RU" altLang="zh-CN" dirty="0"/>
                  <a:t>то период полураспада равен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ru-RU" altLang="zh-CN" dirty="0"/>
                  <a:t>с, а погрешность оценивается как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658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82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ru-RU" altLang="zh-CN" dirty="0"/>
                  <a:t>с.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1D86A-59A7-7387-92A4-DD20AB483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34B02F82-33E2-EF88-9A42-9797906AC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94" y="3099854"/>
            <a:ext cx="5091114" cy="37581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001F8F-37C7-94F6-F65B-9CCB68EC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008" y="3092064"/>
            <a:ext cx="5200024" cy="375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31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688BD-E690-BED8-9009-B1888A35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Результаты обучения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885201B-B65E-AA19-1826-05D0FD1F9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4696"/>
            <a:ext cx="3521752" cy="43513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47A19C-1C1F-CE11-0B40-FE13CC067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2" y="1604696"/>
            <a:ext cx="41069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03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E72B5-A626-1938-66BF-BCABDE54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Литература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8459B3-F4B6-8FC1-28D0-A1BEE07C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[1]</a:t>
            </a:r>
            <a:r>
              <a:rPr lang="ru-RU" altLang="zh-CN" dirty="0"/>
              <a:t> Конспект для курса «Физика атомного ядра и</a:t>
            </a:r>
            <a:r>
              <a:rPr lang="en-US" altLang="zh-CN" dirty="0"/>
              <a:t> </a:t>
            </a:r>
            <a:r>
              <a:rPr lang="ru-RU" altLang="zh-CN" dirty="0"/>
              <a:t>частиц»</a:t>
            </a:r>
            <a:r>
              <a:rPr lang="en-US" altLang="zh-CN" dirty="0"/>
              <a:t>, </a:t>
            </a:r>
            <a:r>
              <a:rPr lang="ru-RU" altLang="zh-CN" dirty="0"/>
              <a:t>Ишханов Борис Саркисович</a:t>
            </a:r>
            <a:r>
              <a:rPr lang="en-US" altLang="zh-CN" dirty="0"/>
              <a:t>: </a:t>
            </a:r>
            <a:r>
              <a:rPr lang="en-US" altLang="zh-CN" dirty="0">
                <a:hlinkClick r:id="rId2"/>
              </a:rPr>
              <a:t>physatom-M.pdf</a:t>
            </a:r>
            <a:endParaRPr lang="en-US" altLang="zh-CN" dirty="0"/>
          </a:p>
          <a:p>
            <a:r>
              <a:rPr lang="en-US" altLang="zh-CN" dirty="0"/>
              <a:t>[2] Wikipedia: </a:t>
            </a:r>
            <a:r>
              <a:rPr lang="ru-RU" altLang="zh-CN" dirty="0">
                <a:hlinkClick r:id="rId3"/>
              </a:rPr>
              <a:t>Нейронная сеть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 err="1"/>
              <a:t>NuDat</a:t>
            </a:r>
            <a:r>
              <a:rPr lang="en-US" altLang="zh-CN" dirty="0"/>
              <a:t> 3.0: </a:t>
            </a:r>
            <a:r>
              <a:rPr lang="en-US" altLang="zh-CN" dirty="0" err="1">
                <a:hlinkClick r:id="rId4"/>
              </a:rPr>
              <a:t>NuDat</a:t>
            </a:r>
            <a:r>
              <a:rPr lang="en-US" altLang="zh-CN" dirty="0">
                <a:hlinkClick r:id="rId4"/>
              </a:rPr>
              <a:t> 3</a:t>
            </a:r>
            <a:endParaRPr lang="ru-RU" altLang="zh-CN" dirty="0"/>
          </a:p>
          <a:p>
            <a:r>
              <a:rPr lang="en-US" altLang="zh-CN" dirty="0"/>
              <a:t>[4] </a:t>
            </a:r>
            <a:r>
              <a:rPr lang="ru-RU" altLang="zh-CN" dirty="0"/>
              <a:t>Мой коды на </a:t>
            </a:r>
            <a:r>
              <a:rPr lang="en-US" altLang="zh-CN" dirty="0"/>
              <a:t>GitHub: </a:t>
            </a:r>
            <a:r>
              <a:rPr lang="en-US" altLang="zh-CN" dirty="0">
                <a:hlinkClick r:id="rId5"/>
              </a:rPr>
              <a:t>Heindrich-von-</a:t>
            </a:r>
            <a:r>
              <a:rPr lang="en-US" altLang="zh-CN" dirty="0" err="1">
                <a:hlinkClick r:id="rId5"/>
              </a:rPr>
              <a:t>Skalitz</a:t>
            </a:r>
            <a:r>
              <a:rPr lang="en-US" altLang="zh-CN" dirty="0">
                <a:hlinkClick r:id="rId5"/>
              </a:rPr>
              <a:t>/Prediction-of-Isotope-Half-life-Using-Neural-Networks: My first Neural Network Class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653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1179</Words>
  <Application>Microsoft Office PowerPoint</Application>
  <PresentationFormat>宽屏</PresentationFormat>
  <Paragraphs>128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quote-cjk-patch</vt:lpstr>
      <vt:lpstr>等线</vt:lpstr>
      <vt:lpstr>等线 Light</vt:lpstr>
      <vt:lpstr>Arial</vt:lpstr>
      <vt:lpstr>Cambria Math</vt:lpstr>
      <vt:lpstr>Office 主题​​</vt:lpstr>
      <vt:lpstr>Применение машиного обучения в Физике</vt:lpstr>
      <vt:lpstr>Содержание</vt:lpstr>
      <vt:lpstr>β^--распад и период полураспада</vt:lpstr>
      <vt:lpstr>Машинное обучение и Нейросеть</vt:lpstr>
      <vt:lpstr>Метод градиентного спуска</vt:lpstr>
      <vt:lpstr>Пример градиентного спуска</vt:lpstr>
      <vt:lpstr>Пример градиентного спуска</vt:lpstr>
      <vt:lpstr>Пример машинного обучения</vt:lpstr>
      <vt:lpstr>Пример машинного обучения</vt:lpstr>
      <vt:lpstr>Вычисление вероятность с полиномами</vt:lpstr>
      <vt:lpstr>Вычисление вероятность с полиномами</vt:lpstr>
      <vt:lpstr>Вычисление вероятность с полиномами</vt:lpstr>
      <vt:lpstr>Вычисление вероятность с полиномами</vt:lpstr>
      <vt:lpstr>K-Nearest Neighbors (К-Ближайшие соседи)</vt:lpstr>
      <vt:lpstr>K-Nearest Neighbors (К-Ближайшие соседи)</vt:lpstr>
      <vt:lpstr>Нейросеть</vt:lpstr>
      <vt:lpstr>Функция forward() нейросети</vt:lpstr>
      <vt:lpstr>Функция meansquareerror() нейросети</vt:lpstr>
      <vt:lpstr>Функция backward() нейросети (функция для вычисления градиента)</vt:lpstr>
      <vt:lpstr>Нелинейный слой Нейросети</vt:lpstr>
      <vt:lpstr>Нелинейный слой Нейросети</vt:lpstr>
      <vt:lpstr>Аппроксимация функции с помощью нейросети</vt:lpstr>
      <vt:lpstr>Аппроксимация функции с помощью нейросети</vt:lpstr>
      <vt:lpstr>Использование нейросети для решения предыдущей задачи.</vt:lpstr>
      <vt:lpstr>Переобучение</vt:lpstr>
      <vt:lpstr>Переобучение</vt:lpstr>
      <vt:lpstr>Применение машинного обучения для предсказания периода полураспада β^--распад изотопов</vt:lpstr>
      <vt:lpstr>Предобработка набора данных</vt:lpstr>
      <vt:lpstr>Обучение</vt:lpstr>
      <vt:lpstr>Результаты обучения</vt:lpstr>
      <vt:lpstr>Результаты обучения</vt:lpstr>
      <vt:lpstr>Результаты обучения</vt:lpstr>
      <vt:lpstr>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Yihna Yang</dc:creator>
  <cp:lastModifiedBy>Yihna Yang</cp:lastModifiedBy>
  <cp:revision>199</cp:revision>
  <dcterms:created xsi:type="dcterms:W3CDTF">2026-04-15T11:42:50Z</dcterms:created>
  <dcterms:modified xsi:type="dcterms:W3CDTF">2026-04-19T19:53:57Z</dcterms:modified>
</cp:coreProperties>
</file>